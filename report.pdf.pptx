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3" r:id="rId7"/>
    <p:sldId id="262" r:id="rId8"/>
    <p:sldId id="261" r:id="rId9"/>
    <p:sldId id="260" r:id="rId10"/>
    <p:sldId id="265" r:id="rId11"/>
    <p:sldId id="267" r:id="rId12"/>
    <p:sldId id="266"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24" autoAdjust="0"/>
    <p:restoredTop sz="94660"/>
  </p:normalViewPr>
  <p:slideViewPr>
    <p:cSldViewPr>
      <p:cViewPr varScale="1">
        <p:scale>
          <a:sx n="66" d="100"/>
          <a:sy n="66" d="100"/>
        </p:scale>
        <p:origin x="-137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AFCE606-7BC5-4501-A693-76996A657990}"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4B57B-6537-4546-9EF3-C1086DC8604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FCE606-7BC5-4501-A693-76996A657990}"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4B57B-6537-4546-9EF3-C1086DC8604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FCE606-7BC5-4501-A693-76996A657990}"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4B57B-6537-4546-9EF3-C1086DC8604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AFCE606-7BC5-4501-A693-76996A657990}"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C4B57B-6537-4546-9EF3-C1086DC8604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AFCE606-7BC5-4501-A693-76996A657990}" type="datetimeFigureOut">
              <a:rPr lang="en-US" smtClean="0"/>
              <a:t>11/23/2025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C4B57B-6537-4546-9EF3-C1086DC8604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AFCE606-7BC5-4501-A693-76996A657990}" type="datetimeFigureOut">
              <a:rPr lang="en-US" smtClean="0"/>
              <a:t>11/23/2025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C4B57B-6537-4546-9EF3-C1086DC8604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FCE606-7BC5-4501-A693-76996A657990}" type="datetimeFigureOut">
              <a:rPr lang="en-US" smtClean="0"/>
              <a:t>11/23/2025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C4B57B-6537-4546-9EF3-C1086DC8604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FCE606-7BC5-4501-A693-76996A657990}"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C4B57B-6537-4546-9EF3-C1086DC8604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FCE606-7BC5-4501-A693-76996A657990}" type="datetimeFigureOut">
              <a:rPr lang="en-US" smtClean="0"/>
              <a:t>11/23/2025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C4B57B-6537-4546-9EF3-C1086DC8604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FCE606-7BC5-4501-A693-76996A657990}"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4B57B-6537-4546-9EF3-C1086DC8604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AFCE606-7BC5-4501-A693-76996A657990}" type="datetimeFigureOut">
              <a:rPr lang="en-US" smtClean="0"/>
              <a:t>11/23/2025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C4B57B-6537-4546-9EF3-C1086DC8604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FCE606-7BC5-4501-A693-76996A657990}" type="datetimeFigureOut">
              <a:rPr lang="en-US" smtClean="0"/>
              <a:t>11/23/2025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C4B57B-6537-4546-9EF3-C1086DC8604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dirty="0"/>
          </a:p>
        </p:txBody>
      </p:sp>
      <p:pic>
        <p:nvPicPr>
          <p:cNvPr id="4" name="Picture 2" descr="C:\Users\pc\Downloads\WhatsApp Image 2025-11-23 at 1.59.08 PM.jpeg"/>
          <p:cNvPicPr>
            <a:picLocks noChangeAspect="1" noChangeArrowheads="1"/>
          </p:cNvPicPr>
          <p:nvPr/>
        </p:nvPicPr>
        <p:blipFill>
          <a:blip r:embed="rId2" cstate="print"/>
          <a:srcRect/>
          <a:stretch>
            <a:fillRect/>
          </a:stretch>
        </p:blipFill>
        <p:spPr bwMode="auto">
          <a:xfrm>
            <a:off x="0" y="0"/>
            <a:ext cx="12153418" cy="6858000"/>
          </a:xfrm>
          <a:prstGeom prst="rect">
            <a:avLst/>
          </a:prstGeom>
          <a:noFill/>
        </p:spPr>
      </p:pic>
      <p:sp>
        <p:nvSpPr>
          <p:cNvPr id="5" name="TextBox 4"/>
          <p:cNvSpPr txBox="1"/>
          <p:nvPr/>
        </p:nvSpPr>
        <p:spPr>
          <a:xfrm>
            <a:off x="323528" y="1628800"/>
            <a:ext cx="8532440" cy="2308324"/>
          </a:xfrm>
          <a:prstGeom prst="rect">
            <a:avLst/>
          </a:prstGeom>
          <a:noFill/>
        </p:spPr>
        <p:txBody>
          <a:bodyPr wrap="square" rtlCol="0">
            <a:spAutoFit/>
          </a:bodyPr>
          <a:lstStyle/>
          <a:p>
            <a:pPr algn="ctr"/>
            <a:r>
              <a:rPr lang="en-US" sz="6000" dirty="0" smtClean="0">
                <a:solidFill>
                  <a:schemeClr val="accent4">
                    <a:lumMod val="75000"/>
                  </a:schemeClr>
                </a:solidFill>
                <a:latin typeface="Arial Black" pitchFamily="34" charset="0"/>
              </a:rPr>
              <a:t>Smart  Reminder For  Assignments</a:t>
            </a:r>
          </a:p>
          <a:p>
            <a:pPr algn="ctr"/>
            <a:endParaRPr lang="en-US" sz="2400" dirty="0">
              <a:solidFill>
                <a:schemeClr val="accent1">
                  <a:lumMod val="60000"/>
                  <a:lumOff val="40000"/>
                </a:schemeClr>
              </a:solidFill>
            </a:endParaRPr>
          </a:p>
        </p:txBody>
      </p:sp>
      <p:sp>
        <p:nvSpPr>
          <p:cNvPr id="6" name="TextBox 5"/>
          <p:cNvSpPr txBox="1"/>
          <p:nvPr/>
        </p:nvSpPr>
        <p:spPr>
          <a:xfrm>
            <a:off x="899592" y="4581128"/>
            <a:ext cx="4320480" cy="1200329"/>
          </a:xfrm>
          <a:prstGeom prst="rect">
            <a:avLst/>
          </a:prstGeom>
          <a:noFill/>
        </p:spPr>
        <p:txBody>
          <a:bodyPr wrap="square" rtlCol="0">
            <a:spAutoFit/>
          </a:bodyPr>
          <a:lstStyle/>
          <a:p>
            <a:r>
              <a:rPr lang="en-US" b="1" dirty="0" smtClean="0">
                <a:solidFill>
                  <a:schemeClr val="accent4">
                    <a:lumMod val="75000"/>
                  </a:schemeClr>
                </a:solidFill>
              </a:rPr>
              <a:t>SUBMITTED BY : VAIBHAVI GUPTA </a:t>
            </a:r>
          </a:p>
          <a:p>
            <a:r>
              <a:rPr lang="en-US" b="1" dirty="0" smtClean="0">
                <a:solidFill>
                  <a:schemeClr val="accent4">
                    <a:lumMod val="75000"/>
                  </a:schemeClr>
                </a:solidFill>
              </a:rPr>
              <a:t>ROLL NO. : 25BAI10642</a:t>
            </a:r>
          </a:p>
          <a:p>
            <a:r>
              <a:rPr lang="en-US" b="1" dirty="0" smtClean="0">
                <a:solidFill>
                  <a:schemeClr val="accent4">
                    <a:lumMod val="75000"/>
                  </a:schemeClr>
                </a:solidFill>
              </a:rPr>
              <a:t>SUBMITTED TO: DR. MAYURI AVR</a:t>
            </a:r>
          </a:p>
          <a:p>
            <a:r>
              <a:rPr lang="en-US" b="1" dirty="0" smtClean="0">
                <a:solidFill>
                  <a:schemeClr val="accent4">
                    <a:lumMod val="75000"/>
                  </a:schemeClr>
                </a:solidFill>
              </a:rPr>
              <a:t>SUBMITTED VIA : VITYARTHI</a:t>
            </a:r>
            <a:endParaRPr lang="en-US" b="1" dirty="0">
              <a:solidFill>
                <a:schemeClr val="accent4">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c\Downloads\WhatsApp Image 2025-11-23 at 1.59.08 PM.jpeg"/>
          <p:cNvPicPr>
            <a:picLocks noChangeAspect="1" noChangeArrowheads="1"/>
          </p:cNvPicPr>
          <p:nvPr/>
        </p:nvPicPr>
        <p:blipFill>
          <a:blip r:embed="rId2" cstate="print"/>
          <a:srcRect/>
          <a:stretch>
            <a:fillRect/>
          </a:stretch>
        </p:blipFill>
        <p:spPr bwMode="auto">
          <a:xfrm>
            <a:off x="0" y="0"/>
            <a:ext cx="12153418" cy="6858000"/>
          </a:xfrm>
          <a:prstGeom prst="rect">
            <a:avLst/>
          </a:prstGeom>
          <a:noFill/>
        </p:spPr>
      </p:pic>
      <p:sp>
        <p:nvSpPr>
          <p:cNvPr id="3" name="TextBox 2"/>
          <p:cNvSpPr txBox="1"/>
          <p:nvPr/>
        </p:nvSpPr>
        <p:spPr>
          <a:xfrm>
            <a:off x="-180528" y="836712"/>
            <a:ext cx="8604448" cy="646331"/>
          </a:xfrm>
          <a:prstGeom prst="rect">
            <a:avLst/>
          </a:prstGeom>
          <a:noFill/>
        </p:spPr>
        <p:txBody>
          <a:bodyPr wrap="square" rtlCol="0">
            <a:spAutoFit/>
          </a:bodyPr>
          <a:lstStyle/>
          <a:p>
            <a:pPr algn="ctr"/>
            <a:r>
              <a:rPr lang="en-US" sz="3600" dirty="0" smtClean="0">
                <a:solidFill>
                  <a:schemeClr val="accent4">
                    <a:lumMod val="75000"/>
                  </a:schemeClr>
                </a:solidFill>
                <a:latin typeface="Berlin Sans FB Demi" pitchFamily="34" charset="0"/>
              </a:rPr>
              <a:t>REAL-WORLD PROBLEM OR NEED</a:t>
            </a:r>
            <a:endParaRPr lang="en-US" sz="3600" dirty="0">
              <a:solidFill>
                <a:schemeClr val="accent4">
                  <a:lumMod val="75000"/>
                </a:schemeClr>
              </a:solidFill>
              <a:latin typeface="Berlin Sans FB Demi" pitchFamily="34" charset="0"/>
            </a:endParaRPr>
          </a:p>
        </p:txBody>
      </p:sp>
      <p:sp>
        <p:nvSpPr>
          <p:cNvPr id="4" name="TextBox 3"/>
          <p:cNvSpPr txBox="1"/>
          <p:nvPr/>
        </p:nvSpPr>
        <p:spPr>
          <a:xfrm>
            <a:off x="1403648" y="1772816"/>
            <a:ext cx="5472608" cy="2862322"/>
          </a:xfrm>
          <a:prstGeom prst="rect">
            <a:avLst/>
          </a:prstGeom>
          <a:solidFill>
            <a:schemeClr val="bg1"/>
          </a:solidFill>
          <a:ln>
            <a:solidFill>
              <a:schemeClr val="bg1"/>
            </a:solidFill>
          </a:ln>
        </p:spPr>
        <p:txBody>
          <a:bodyPr wrap="square" rtlCol="0">
            <a:spAutoFit/>
          </a:bodyPr>
          <a:lstStyle/>
          <a:p>
            <a:r>
              <a:rPr lang="en-US" dirty="0" smtClean="0">
                <a:solidFill>
                  <a:schemeClr val="tx2">
                    <a:lumMod val="50000"/>
                  </a:schemeClr>
                </a:solidFill>
              </a:rPr>
              <a:t>Students often forget assignment deadlines due to busy schedules, poor time management, or lack of proper organization tools. Manual reminder methods like notebooks or basic phone reminders do not dynamically track multiple subjects, deadlines, or priority levels.</a:t>
            </a:r>
          </a:p>
          <a:p>
            <a:endParaRPr lang="en-US" dirty="0">
              <a:solidFill>
                <a:schemeClr val="tx2">
                  <a:lumMod val="50000"/>
                </a:schemeClr>
              </a:solidFill>
            </a:endParaRPr>
          </a:p>
          <a:p>
            <a:endParaRPr lang="en-US" dirty="0" smtClean="0">
              <a:solidFill>
                <a:schemeClr val="tx2">
                  <a:lumMod val="50000"/>
                </a:schemeClr>
              </a:solidFill>
            </a:endParaRPr>
          </a:p>
          <a:p>
            <a:r>
              <a:rPr lang="en-US" dirty="0" smtClean="0">
                <a:solidFill>
                  <a:schemeClr val="tx2">
                    <a:lumMod val="50000"/>
                  </a:schemeClr>
                </a:solidFill>
              </a:rPr>
              <a:t>A Smart Assignment Reminder helps students stay organized, avoid missed deadlines, and reduce academic stress.</a:t>
            </a:r>
            <a:endParaRPr lang="en-US" dirty="0">
              <a:solidFill>
                <a:schemeClr val="tx2">
                  <a:lumMod val="50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C:\Users\pc\Downloads\WhatsApp Image 2025-11-23 at 1.59.08 PM.jpeg"/>
          <p:cNvPicPr>
            <a:picLocks noChangeAspect="1" noChangeArrowheads="1"/>
          </p:cNvPicPr>
          <p:nvPr/>
        </p:nvPicPr>
        <p:blipFill>
          <a:blip r:embed="rId2" cstate="print"/>
          <a:srcRect/>
          <a:stretch>
            <a:fillRect/>
          </a:stretch>
        </p:blipFill>
        <p:spPr bwMode="auto">
          <a:xfrm>
            <a:off x="0" y="0"/>
            <a:ext cx="12153418" cy="6858000"/>
          </a:xfrm>
          <a:prstGeom prst="rect">
            <a:avLst/>
          </a:prstGeom>
          <a:noFill/>
        </p:spPr>
      </p:pic>
      <p:sp>
        <p:nvSpPr>
          <p:cNvPr id="3" name="TextBox 2"/>
          <p:cNvSpPr txBox="1"/>
          <p:nvPr/>
        </p:nvSpPr>
        <p:spPr>
          <a:xfrm>
            <a:off x="827584" y="692696"/>
            <a:ext cx="5976664" cy="1200329"/>
          </a:xfrm>
          <a:prstGeom prst="rect">
            <a:avLst/>
          </a:prstGeom>
          <a:noFill/>
        </p:spPr>
        <p:txBody>
          <a:bodyPr wrap="square" rtlCol="0">
            <a:spAutoFit/>
          </a:bodyPr>
          <a:lstStyle/>
          <a:p>
            <a:pPr algn="ctr"/>
            <a:r>
              <a:rPr lang="en-US" sz="3600" dirty="0" smtClean="0">
                <a:solidFill>
                  <a:schemeClr val="accent4">
                    <a:lumMod val="75000"/>
                  </a:schemeClr>
                </a:solidFill>
                <a:latin typeface="Berlin Sans FB Demi" pitchFamily="34" charset="0"/>
              </a:rPr>
              <a:t> CLEAR OBJECTIVES AND EXPECTED OUTCOMES</a:t>
            </a:r>
            <a:endParaRPr lang="en-US" sz="3600" dirty="0">
              <a:solidFill>
                <a:schemeClr val="accent4">
                  <a:lumMod val="75000"/>
                </a:schemeClr>
              </a:solidFill>
              <a:latin typeface="Berlin Sans FB Demi" pitchFamily="34" charset="0"/>
            </a:endParaRPr>
          </a:p>
        </p:txBody>
      </p:sp>
      <p:sp>
        <p:nvSpPr>
          <p:cNvPr id="4" name="TextBox 3"/>
          <p:cNvSpPr txBox="1"/>
          <p:nvPr/>
        </p:nvSpPr>
        <p:spPr>
          <a:xfrm>
            <a:off x="611560" y="2420888"/>
            <a:ext cx="4320480" cy="3231654"/>
          </a:xfrm>
          <a:prstGeom prst="rect">
            <a:avLst/>
          </a:prstGeom>
          <a:noFill/>
        </p:spPr>
        <p:txBody>
          <a:bodyPr wrap="square" rtlCol="0">
            <a:spAutoFit/>
          </a:bodyPr>
          <a:lstStyle/>
          <a:p>
            <a:pPr algn="ctr"/>
            <a:r>
              <a:rPr lang="en-US" sz="2400" b="1" dirty="0" smtClean="0">
                <a:solidFill>
                  <a:schemeClr val="accent4"/>
                </a:solidFill>
              </a:rPr>
              <a:t>Objectives</a:t>
            </a:r>
          </a:p>
          <a:p>
            <a:pPr marL="342900" indent="-342900">
              <a:buAutoNum type="arabicPeriod"/>
            </a:pPr>
            <a:r>
              <a:rPr lang="en-US" dirty="0" smtClean="0"/>
              <a:t>Build a Python-based smart reminder system for assignments.</a:t>
            </a:r>
          </a:p>
          <a:p>
            <a:pPr marL="342900" indent="-342900">
              <a:buAutoNum type="arabicPeriod"/>
            </a:pPr>
            <a:r>
              <a:rPr lang="en-US" dirty="0" smtClean="0"/>
              <a:t> Allow users to add, update, and delete assignment tasks.</a:t>
            </a:r>
          </a:p>
          <a:p>
            <a:pPr marL="342900" indent="-342900">
              <a:buAutoNum type="arabicPeriod" startAt="3"/>
            </a:pPr>
            <a:r>
              <a:rPr lang="en-US" dirty="0" smtClean="0"/>
              <a:t>Store assignment data with due dates and subject names.</a:t>
            </a:r>
          </a:p>
          <a:p>
            <a:pPr marL="342900" indent="-342900">
              <a:buAutoNum type="arabicPeriod" startAt="3"/>
            </a:pPr>
            <a:r>
              <a:rPr lang="en-US" dirty="0" smtClean="0"/>
              <a:t>Generate reminders based on urgency (due soon, overdue, etc.).</a:t>
            </a:r>
          </a:p>
          <a:p>
            <a:pPr marL="342900" indent="-342900">
              <a:buAutoNum type="arabicPeriod" startAt="3"/>
            </a:pPr>
            <a:r>
              <a:rPr lang="en-US" dirty="0" smtClean="0"/>
              <a:t> Provide a simple, user-friendly interface (CLI or basic GUI).</a:t>
            </a:r>
            <a:endParaRPr lang="en-US" dirty="0"/>
          </a:p>
        </p:txBody>
      </p:sp>
      <p:sp>
        <p:nvSpPr>
          <p:cNvPr id="5" name="TextBox 4"/>
          <p:cNvSpPr txBox="1"/>
          <p:nvPr/>
        </p:nvSpPr>
        <p:spPr>
          <a:xfrm>
            <a:off x="5652120" y="2420888"/>
            <a:ext cx="2880320" cy="3231654"/>
          </a:xfrm>
          <a:prstGeom prst="rect">
            <a:avLst/>
          </a:prstGeom>
          <a:noFill/>
        </p:spPr>
        <p:txBody>
          <a:bodyPr wrap="square" rtlCol="0">
            <a:spAutoFit/>
          </a:bodyPr>
          <a:lstStyle/>
          <a:p>
            <a:r>
              <a:rPr lang="en-US" sz="2400" b="1" dirty="0" smtClean="0">
                <a:solidFill>
                  <a:schemeClr val="accent4"/>
                </a:solidFill>
              </a:rPr>
              <a:t>Expected Outcomes</a:t>
            </a:r>
          </a:p>
          <a:p>
            <a:pPr marL="342900" indent="-342900">
              <a:buFont typeface="+mj-lt"/>
              <a:buAutoNum type="arabicPeriod"/>
            </a:pPr>
            <a:r>
              <a:rPr lang="en-US" dirty="0" smtClean="0"/>
              <a:t>Students receive timely alerts for upcoming deadlines.</a:t>
            </a:r>
          </a:p>
          <a:p>
            <a:pPr marL="342900" indent="-342900">
              <a:buFont typeface="+mj-lt"/>
              <a:buAutoNum type="arabicPeriod"/>
            </a:pPr>
            <a:r>
              <a:rPr lang="en-US" dirty="0" smtClean="0"/>
              <a:t>Easy-to-use tool that keeps track of multiple subjects.</a:t>
            </a:r>
          </a:p>
          <a:p>
            <a:pPr marL="342900" indent="-342900">
              <a:buFont typeface="+mj-lt"/>
              <a:buAutoNum type="arabicPeriod"/>
            </a:pPr>
            <a:r>
              <a:rPr lang="en-US" dirty="0" smtClean="0"/>
              <a:t>Reduced chance of missing assignments.</a:t>
            </a:r>
          </a:p>
          <a:p>
            <a:pPr marL="342900" indent="-342900">
              <a:buFont typeface="+mj-lt"/>
              <a:buAutoNum type="arabicPeriod"/>
            </a:pPr>
            <a:r>
              <a:rPr lang="en-US" dirty="0" smtClean="0"/>
              <a:t>Organized storage of academic tasks.</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descr="C:\Users\pc\Downloads\WhatsApp Image 2025-11-23 at 1.59.08 PM (1).jpeg"/>
          <p:cNvPicPr>
            <a:picLocks noChangeAspect="1" noChangeArrowheads="1"/>
          </p:cNvPicPr>
          <p:nvPr/>
        </p:nvPicPr>
        <p:blipFill>
          <a:blip r:embed="rId2" cstate="print"/>
          <a:srcRect/>
          <a:stretch>
            <a:fillRect/>
          </a:stretch>
        </p:blipFill>
        <p:spPr bwMode="auto">
          <a:xfrm>
            <a:off x="0" y="0"/>
            <a:ext cx="12153418" cy="6858000"/>
          </a:xfrm>
          <a:prstGeom prst="rect">
            <a:avLst/>
          </a:prstGeom>
          <a:noFill/>
        </p:spPr>
      </p:pic>
      <p:sp>
        <p:nvSpPr>
          <p:cNvPr id="5" name="TextBox 4"/>
          <p:cNvSpPr txBox="1"/>
          <p:nvPr/>
        </p:nvSpPr>
        <p:spPr>
          <a:xfrm>
            <a:off x="539552" y="1052736"/>
            <a:ext cx="6624736" cy="1200329"/>
          </a:xfrm>
          <a:prstGeom prst="rect">
            <a:avLst/>
          </a:prstGeom>
          <a:noFill/>
        </p:spPr>
        <p:txBody>
          <a:bodyPr wrap="square" rtlCol="0">
            <a:spAutoFit/>
          </a:bodyPr>
          <a:lstStyle/>
          <a:p>
            <a:pPr algn="ctr"/>
            <a:r>
              <a:rPr lang="en-US" sz="3600" dirty="0" smtClean="0">
                <a:solidFill>
                  <a:schemeClr val="accent4">
                    <a:lumMod val="75000"/>
                  </a:schemeClr>
                </a:solidFill>
                <a:latin typeface="Berlin Sans FB Demi" pitchFamily="34" charset="0"/>
              </a:rPr>
              <a:t>CONCEPTS APPLIED FROM THE COURSE</a:t>
            </a:r>
            <a:endParaRPr lang="en-US" sz="3600" dirty="0">
              <a:solidFill>
                <a:schemeClr val="accent4">
                  <a:lumMod val="75000"/>
                </a:schemeClr>
              </a:solidFill>
              <a:latin typeface="Berlin Sans FB Demi" pitchFamily="34" charset="0"/>
            </a:endParaRPr>
          </a:p>
        </p:txBody>
      </p:sp>
      <p:sp>
        <p:nvSpPr>
          <p:cNvPr id="6" name="TextBox 5"/>
          <p:cNvSpPr txBox="1"/>
          <p:nvPr/>
        </p:nvSpPr>
        <p:spPr>
          <a:xfrm>
            <a:off x="971600" y="2564904"/>
            <a:ext cx="7272808" cy="2031325"/>
          </a:xfrm>
          <a:prstGeom prst="rect">
            <a:avLst/>
          </a:prstGeom>
          <a:noFill/>
        </p:spPr>
        <p:txBody>
          <a:bodyPr wrap="square" rtlCol="0">
            <a:spAutoFit/>
          </a:bodyPr>
          <a:lstStyle/>
          <a:p>
            <a:pPr marL="342900" indent="-342900">
              <a:buFont typeface="+mj-lt"/>
              <a:buAutoNum type="arabicPeriod"/>
            </a:pPr>
            <a:r>
              <a:rPr lang="en-US" dirty="0" smtClean="0"/>
              <a:t>Python programming fundamentals (variables, loops, conditionals)</a:t>
            </a:r>
          </a:p>
          <a:p>
            <a:pPr marL="342900" indent="-342900">
              <a:buFont typeface="+mj-lt"/>
              <a:buAutoNum type="arabicPeriod"/>
            </a:pPr>
            <a:r>
              <a:rPr lang="en-US" dirty="0" smtClean="0"/>
              <a:t>Data structures (lists, dictionaries)</a:t>
            </a:r>
          </a:p>
          <a:p>
            <a:pPr marL="342900" indent="-342900">
              <a:buFont typeface="+mj-lt"/>
              <a:buAutoNum type="arabicPeriod"/>
            </a:pPr>
            <a:r>
              <a:rPr lang="en-US" dirty="0" smtClean="0"/>
              <a:t>File handling for saving assignment data</a:t>
            </a:r>
          </a:p>
          <a:p>
            <a:pPr marL="342900" indent="-342900">
              <a:buFont typeface="+mj-lt"/>
              <a:buAutoNum type="arabicPeriod"/>
            </a:pPr>
            <a:r>
              <a:rPr lang="en-US" dirty="0" smtClean="0"/>
              <a:t>Modularization (functions, modules)</a:t>
            </a:r>
          </a:p>
          <a:p>
            <a:pPr marL="342900" indent="-342900">
              <a:buFont typeface="+mj-lt"/>
              <a:buAutoNum type="arabicPeriod"/>
            </a:pPr>
            <a:r>
              <a:rPr lang="en-US" dirty="0" smtClean="0"/>
              <a:t>Date/time handling using </a:t>
            </a:r>
            <a:r>
              <a:rPr lang="en-US" dirty="0" err="1" smtClean="0"/>
              <a:t>datetime</a:t>
            </a:r>
            <a:endParaRPr lang="en-US" dirty="0" smtClean="0"/>
          </a:p>
          <a:p>
            <a:pPr marL="342900" indent="-342900">
              <a:buFont typeface="+mj-lt"/>
              <a:buAutoNum type="arabicPeriod"/>
            </a:pPr>
            <a:r>
              <a:rPr lang="en-US" dirty="0" smtClean="0"/>
              <a:t>Error handling (try-except)</a:t>
            </a:r>
          </a:p>
          <a:p>
            <a:pPr marL="342900" indent="-342900">
              <a:buFont typeface="+mj-lt"/>
              <a:buAutoNum type="arabicPeriod"/>
            </a:pPr>
            <a:r>
              <a:rPr lang="en-US" dirty="0" smtClean="0"/>
              <a:t>Algorithm design and top-down development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pc\Downloads\WhatsApp Image 2025-11-23 at 1.59.08 PM (1).jpeg"/>
          <p:cNvPicPr>
            <a:picLocks noChangeAspect="1" noChangeArrowheads="1"/>
          </p:cNvPicPr>
          <p:nvPr/>
        </p:nvPicPr>
        <p:blipFill>
          <a:blip r:embed="rId2" cstate="print"/>
          <a:srcRect/>
          <a:stretch>
            <a:fillRect/>
          </a:stretch>
        </p:blipFill>
        <p:spPr bwMode="auto">
          <a:xfrm>
            <a:off x="0" y="0"/>
            <a:ext cx="12153418" cy="6858000"/>
          </a:xfrm>
          <a:prstGeom prst="rect">
            <a:avLst/>
          </a:prstGeom>
          <a:noFill/>
        </p:spPr>
      </p:pic>
      <p:sp>
        <p:nvSpPr>
          <p:cNvPr id="4" name="TextBox 3"/>
          <p:cNvSpPr txBox="1"/>
          <p:nvPr/>
        </p:nvSpPr>
        <p:spPr>
          <a:xfrm>
            <a:off x="0" y="1052736"/>
            <a:ext cx="9144000" cy="646331"/>
          </a:xfrm>
          <a:prstGeom prst="rect">
            <a:avLst/>
          </a:prstGeom>
          <a:noFill/>
        </p:spPr>
        <p:txBody>
          <a:bodyPr wrap="square" rtlCol="0">
            <a:spAutoFit/>
          </a:bodyPr>
          <a:lstStyle/>
          <a:p>
            <a:pPr algn="ctr"/>
            <a:r>
              <a:rPr lang="en-US" sz="3600" dirty="0" smtClean="0">
                <a:solidFill>
                  <a:schemeClr val="accent4">
                    <a:lumMod val="75000"/>
                  </a:schemeClr>
                </a:solidFill>
                <a:latin typeface="Berlin Sans FB Demi" pitchFamily="34" charset="0"/>
              </a:rPr>
              <a:t>TOOLS, LIBRARIES &amp; TECHNIQUES</a:t>
            </a:r>
            <a:endParaRPr lang="en-US" sz="3600" dirty="0">
              <a:solidFill>
                <a:schemeClr val="accent4">
                  <a:lumMod val="75000"/>
                </a:schemeClr>
              </a:solidFill>
              <a:latin typeface="Berlin Sans FB Demi" pitchFamily="34" charset="0"/>
            </a:endParaRPr>
          </a:p>
        </p:txBody>
      </p:sp>
      <p:sp>
        <p:nvSpPr>
          <p:cNvPr id="5" name="TextBox 4"/>
          <p:cNvSpPr txBox="1"/>
          <p:nvPr/>
        </p:nvSpPr>
        <p:spPr>
          <a:xfrm>
            <a:off x="395536" y="1844824"/>
            <a:ext cx="7560840" cy="3477875"/>
          </a:xfrm>
          <a:prstGeom prst="rect">
            <a:avLst/>
          </a:prstGeom>
          <a:noFill/>
        </p:spPr>
        <p:txBody>
          <a:bodyPr wrap="square" rtlCol="0">
            <a:spAutoFit/>
          </a:bodyPr>
          <a:lstStyle/>
          <a:p>
            <a:pPr algn="ctr"/>
            <a:r>
              <a:rPr lang="en-US" sz="2000" b="1" dirty="0" smtClean="0">
                <a:solidFill>
                  <a:schemeClr val="accent4"/>
                </a:solidFill>
              </a:rPr>
              <a:t>LANGUAGES/TOOLS</a:t>
            </a:r>
          </a:p>
          <a:p>
            <a:pPr algn="ctr"/>
            <a:r>
              <a:rPr lang="en-US" dirty="0" smtClean="0"/>
              <a:t>Python</a:t>
            </a:r>
          </a:p>
          <a:p>
            <a:pPr algn="ctr"/>
            <a:r>
              <a:rPr lang="en-US" dirty="0" err="1" smtClean="0"/>
              <a:t>datetime</a:t>
            </a:r>
            <a:r>
              <a:rPr lang="en-US" dirty="0" smtClean="0"/>
              <a:t> module</a:t>
            </a:r>
          </a:p>
          <a:p>
            <a:pPr algn="ctr"/>
            <a:r>
              <a:rPr lang="en-US" dirty="0" err="1" smtClean="0"/>
              <a:t>json</a:t>
            </a:r>
            <a:r>
              <a:rPr lang="en-US" dirty="0" smtClean="0"/>
              <a:t> or text file storage</a:t>
            </a:r>
          </a:p>
          <a:p>
            <a:pPr algn="ctr"/>
            <a:r>
              <a:rPr lang="en-US" dirty="0" smtClean="0"/>
              <a:t>(Optional) </a:t>
            </a:r>
            <a:r>
              <a:rPr lang="en-US" dirty="0" err="1" smtClean="0"/>
              <a:t>Tkinter</a:t>
            </a:r>
            <a:r>
              <a:rPr lang="en-US" dirty="0" smtClean="0"/>
              <a:t> for GUI</a:t>
            </a:r>
          </a:p>
          <a:p>
            <a:pPr algn="ctr"/>
            <a:r>
              <a:rPr lang="en-US" dirty="0" smtClean="0"/>
              <a:t>(Optional) </a:t>
            </a:r>
            <a:r>
              <a:rPr lang="en-US" dirty="0" err="1" smtClean="0"/>
              <a:t>plyer</a:t>
            </a:r>
            <a:r>
              <a:rPr lang="en-US" dirty="0" smtClean="0"/>
              <a:t> for desktop notifications</a:t>
            </a:r>
          </a:p>
          <a:p>
            <a:pPr algn="ctr"/>
            <a:endParaRPr lang="en-US" dirty="0" smtClean="0"/>
          </a:p>
          <a:p>
            <a:pPr algn="ctr"/>
            <a:r>
              <a:rPr lang="en-US" sz="2000" b="1" dirty="0" smtClean="0">
                <a:solidFill>
                  <a:schemeClr val="accent4"/>
                </a:solidFill>
              </a:rPr>
              <a:t>TECHNIQUES</a:t>
            </a:r>
            <a:endParaRPr lang="en-US" b="1" dirty="0" smtClean="0">
              <a:solidFill>
                <a:schemeClr val="accent4"/>
              </a:solidFill>
            </a:endParaRPr>
          </a:p>
          <a:p>
            <a:pPr algn="ctr"/>
            <a:r>
              <a:rPr lang="en-US" dirty="0" smtClean="0"/>
              <a:t>Modular programming</a:t>
            </a:r>
          </a:p>
          <a:p>
            <a:pPr algn="ctr"/>
            <a:r>
              <a:rPr lang="en-US" dirty="0" smtClean="0"/>
              <a:t>Top-down software design</a:t>
            </a:r>
          </a:p>
          <a:p>
            <a:pPr algn="ctr"/>
            <a:r>
              <a:rPr lang="en-US" dirty="0" smtClean="0"/>
              <a:t>Algorithmic planning</a:t>
            </a:r>
          </a:p>
          <a:p>
            <a:pPr algn="ctr"/>
            <a:r>
              <a:rPr lang="en-US" dirty="0" smtClean="0"/>
              <a:t>Iterative development and testing</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pc\Downloads\WhatsApp Image 2025-11-23 at 1.59.08 PM (1).jpeg"/>
          <p:cNvPicPr>
            <a:picLocks noChangeAspect="1" noChangeArrowheads="1"/>
          </p:cNvPicPr>
          <p:nvPr/>
        </p:nvPicPr>
        <p:blipFill>
          <a:blip r:embed="rId2" cstate="print"/>
          <a:srcRect/>
          <a:stretch>
            <a:fillRect/>
          </a:stretch>
        </p:blipFill>
        <p:spPr bwMode="auto">
          <a:xfrm>
            <a:off x="0" y="0"/>
            <a:ext cx="12153418" cy="6858000"/>
          </a:xfrm>
          <a:prstGeom prst="rect">
            <a:avLst/>
          </a:prstGeom>
          <a:noFill/>
        </p:spPr>
      </p:pic>
      <p:sp>
        <p:nvSpPr>
          <p:cNvPr id="3" name="TextBox 2"/>
          <p:cNvSpPr txBox="1"/>
          <p:nvPr/>
        </p:nvSpPr>
        <p:spPr>
          <a:xfrm>
            <a:off x="899592" y="692696"/>
            <a:ext cx="6588224" cy="646331"/>
          </a:xfrm>
          <a:prstGeom prst="rect">
            <a:avLst/>
          </a:prstGeom>
          <a:noFill/>
        </p:spPr>
        <p:txBody>
          <a:bodyPr wrap="square" rtlCol="0">
            <a:spAutoFit/>
          </a:bodyPr>
          <a:lstStyle/>
          <a:p>
            <a:pPr algn="ctr"/>
            <a:r>
              <a:rPr lang="en-US" sz="3600" dirty="0" smtClean="0">
                <a:solidFill>
                  <a:schemeClr val="accent4">
                    <a:lumMod val="75000"/>
                  </a:schemeClr>
                </a:solidFill>
                <a:latin typeface="Berlin Sans FB Demi" pitchFamily="34" charset="0"/>
              </a:rPr>
              <a:t>PROBLEM DEFINITION</a:t>
            </a:r>
            <a:endParaRPr lang="en-US" sz="3600" dirty="0">
              <a:solidFill>
                <a:schemeClr val="accent4">
                  <a:lumMod val="75000"/>
                </a:schemeClr>
              </a:solidFill>
              <a:latin typeface="Berlin Sans FB Demi" pitchFamily="34" charset="0"/>
            </a:endParaRPr>
          </a:p>
        </p:txBody>
      </p:sp>
      <p:sp>
        <p:nvSpPr>
          <p:cNvPr id="4" name="TextBox 3"/>
          <p:cNvSpPr txBox="1"/>
          <p:nvPr/>
        </p:nvSpPr>
        <p:spPr>
          <a:xfrm>
            <a:off x="1547664" y="1700808"/>
            <a:ext cx="5688632" cy="2246769"/>
          </a:xfrm>
          <a:prstGeom prst="rect">
            <a:avLst/>
          </a:prstGeom>
          <a:noFill/>
        </p:spPr>
        <p:txBody>
          <a:bodyPr wrap="square" rtlCol="0">
            <a:spAutoFit/>
          </a:bodyPr>
          <a:lstStyle/>
          <a:p>
            <a:pPr algn="ctr"/>
            <a:r>
              <a:rPr lang="en-US" sz="2000" dirty="0" smtClean="0"/>
              <a:t>Students lack a simple tool that keeps track of assignment deadlines, provides timely reminders, and organizes tasks by subjects. Traditional methods are inefficient and prone to human error.</a:t>
            </a:r>
          </a:p>
          <a:p>
            <a:pPr algn="ctr"/>
            <a:endParaRPr lang="en-US" sz="2000" dirty="0"/>
          </a:p>
          <a:p>
            <a:pPr algn="ctr"/>
            <a:r>
              <a:rPr lang="en-US" sz="2000" dirty="0" smtClean="0"/>
              <a:t>A smart reminder system is needed to automate this process.</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pc\Downloads\WhatsApp Image 2025-11-23 at 1.59.08 PM (1).jpeg"/>
          <p:cNvPicPr>
            <a:picLocks noChangeAspect="1" noChangeArrowheads="1"/>
          </p:cNvPicPr>
          <p:nvPr/>
        </p:nvPicPr>
        <p:blipFill>
          <a:blip r:embed="rId2" cstate="print"/>
          <a:srcRect/>
          <a:stretch>
            <a:fillRect/>
          </a:stretch>
        </p:blipFill>
        <p:spPr bwMode="auto">
          <a:xfrm>
            <a:off x="0" y="0"/>
            <a:ext cx="12153418" cy="6858000"/>
          </a:xfrm>
          <a:prstGeom prst="rect">
            <a:avLst/>
          </a:prstGeom>
          <a:noFill/>
        </p:spPr>
      </p:pic>
      <p:sp>
        <p:nvSpPr>
          <p:cNvPr id="3" name="TextBox 2"/>
          <p:cNvSpPr txBox="1"/>
          <p:nvPr/>
        </p:nvSpPr>
        <p:spPr>
          <a:xfrm>
            <a:off x="755576" y="764704"/>
            <a:ext cx="6552728" cy="646331"/>
          </a:xfrm>
          <a:prstGeom prst="rect">
            <a:avLst/>
          </a:prstGeom>
          <a:noFill/>
        </p:spPr>
        <p:txBody>
          <a:bodyPr wrap="square" rtlCol="0">
            <a:spAutoFit/>
          </a:bodyPr>
          <a:lstStyle/>
          <a:p>
            <a:r>
              <a:rPr lang="en-US" sz="3600" dirty="0" smtClean="0">
                <a:solidFill>
                  <a:schemeClr val="accent4">
                    <a:lumMod val="75000"/>
                  </a:schemeClr>
                </a:solidFill>
                <a:latin typeface="Berlin Sans FB Demi" pitchFamily="34" charset="0"/>
              </a:rPr>
              <a:t>REQUIREMENT ANALYSIS</a:t>
            </a:r>
            <a:endParaRPr lang="en-US" sz="3600" dirty="0">
              <a:solidFill>
                <a:schemeClr val="accent4">
                  <a:lumMod val="75000"/>
                </a:schemeClr>
              </a:solidFill>
              <a:latin typeface="Berlin Sans FB Demi" pitchFamily="34" charset="0"/>
            </a:endParaRPr>
          </a:p>
        </p:txBody>
      </p:sp>
      <p:sp>
        <p:nvSpPr>
          <p:cNvPr id="4" name="TextBox 3"/>
          <p:cNvSpPr txBox="1"/>
          <p:nvPr/>
        </p:nvSpPr>
        <p:spPr>
          <a:xfrm>
            <a:off x="611560" y="1772816"/>
            <a:ext cx="3528392" cy="3170099"/>
          </a:xfrm>
          <a:prstGeom prst="rect">
            <a:avLst/>
          </a:prstGeom>
          <a:noFill/>
        </p:spPr>
        <p:txBody>
          <a:bodyPr wrap="square" rtlCol="0">
            <a:spAutoFit/>
          </a:bodyPr>
          <a:lstStyle/>
          <a:p>
            <a:pPr algn="ctr"/>
            <a:r>
              <a:rPr lang="en-US" sz="2000" b="1" dirty="0" smtClean="0">
                <a:solidFill>
                  <a:schemeClr val="accent4">
                    <a:lumMod val="75000"/>
                  </a:schemeClr>
                </a:solidFill>
              </a:rPr>
              <a:t>FUNCTIONAL REQUIREMENTS</a:t>
            </a:r>
          </a:p>
          <a:p>
            <a:pPr algn="ctr"/>
            <a:r>
              <a:rPr lang="en-US" dirty="0" smtClean="0"/>
              <a:t>Add a new </a:t>
            </a:r>
            <a:r>
              <a:rPr lang="en-US" dirty="0" err="1" smtClean="0"/>
              <a:t>assignment:Subject</a:t>
            </a:r>
            <a:r>
              <a:rPr lang="en-US" dirty="0" smtClean="0"/>
              <a:t> name</a:t>
            </a:r>
          </a:p>
          <a:p>
            <a:pPr algn="ctr"/>
            <a:r>
              <a:rPr lang="en-US" dirty="0" smtClean="0"/>
              <a:t>Description</a:t>
            </a:r>
          </a:p>
          <a:p>
            <a:pPr algn="ctr"/>
            <a:r>
              <a:rPr lang="en-US" dirty="0" smtClean="0"/>
              <a:t>Due date</a:t>
            </a:r>
          </a:p>
          <a:p>
            <a:pPr algn="ctr"/>
            <a:r>
              <a:rPr lang="en-US" dirty="0" smtClean="0"/>
              <a:t>View all assignments</a:t>
            </a:r>
          </a:p>
          <a:p>
            <a:pPr algn="ctr"/>
            <a:r>
              <a:rPr lang="en-US" dirty="0" smtClean="0"/>
              <a:t>View upcoming assignments (e.g., due in next 1–3 days)</a:t>
            </a:r>
          </a:p>
          <a:p>
            <a:pPr algn="ctr"/>
            <a:r>
              <a:rPr lang="en-US" dirty="0" smtClean="0"/>
              <a:t>View overdue assignments</a:t>
            </a:r>
          </a:p>
          <a:p>
            <a:pPr algn="ctr"/>
            <a:r>
              <a:rPr lang="en-US" dirty="0" smtClean="0"/>
              <a:t>Delete completed assignments</a:t>
            </a:r>
          </a:p>
          <a:p>
            <a:pPr algn="ctr"/>
            <a:r>
              <a:rPr lang="en-US" dirty="0" smtClean="0"/>
              <a:t>Save and load assignments from file</a:t>
            </a:r>
            <a:endParaRPr lang="en-US" dirty="0"/>
          </a:p>
        </p:txBody>
      </p:sp>
      <p:sp>
        <p:nvSpPr>
          <p:cNvPr id="5" name="TextBox 4"/>
          <p:cNvSpPr txBox="1"/>
          <p:nvPr/>
        </p:nvSpPr>
        <p:spPr>
          <a:xfrm>
            <a:off x="4644008" y="1916832"/>
            <a:ext cx="4248472" cy="1508105"/>
          </a:xfrm>
          <a:prstGeom prst="rect">
            <a:avLst/>
          </a:prstGeom>
          <a:noFill/>
        </p:spPr>
        <p:txBody>
          <a:bodyPr wrap="square" rtlCol="0">
            <a:spAutoFit/>
          </a:bodyPr>
          <a:lstStyle/>
          <a:p>
            <a:pPr algn="ctr"/>
            <a:r>
              <a:rPr lang="en-US" sz="2000" b="1" dirty="0" smtClean="0">
                <a:solidFill>
                  <a:schemeClr val="accent4">
                    <a:lumMod val="75000"/>
                  </a:schemeClr>
                </a:solidFill>
              </a:rPr>
              <a:t>NON-FUNCTIONAL REQUIREMENTS</a:t>
            </a:r>
          </a:p>
          <a:p>
            <a:pPr algn="ctr"/>
            <a:r>
              <a:rPr lang="en-US" dirty="0" smtClean="0"/>
              <a:t>Simple and intuitive interface</a:t>
            </a:r>
          </a:p>
          <a:p>
            <a:pPr algn="ctr"/>
            <a:r>
              <a:rPr lang="en-US" dirty="0" smtClean="0"/>
              <a:t>Fast performance</a:t>
            </a:r>
          </a:p>
          <a:p>
            <a:pPr algn="ctr"/>
            <a:r>
              <a:rPr lang="en-US" dirty="0" smtClean="0"/>
              <a:t>Reliable data storage</a:t>
            </a:r>
          </a:p>
          <a:p>
            <a:pPr algn="ctr"/>
            <a:r>
              <a:rPr lang="en-US" dirty="0" smtClean="0"/>
              <a:t>Accurate time-based reminders</a:t>
            </a:r>
            <a:endParaRPr lang="en-US" dirty="0"/>
          </a:p>
        </p:txBody>
      </p:sp>
      <p:sp>
        <p:nvSpPr>
          <p:cNvPr id="6" name="TextBox 5"/>
          <p:cNvSpPr txBox="1"/>
          <p:nvPr/>
        </p:nvSpPr>
        <p:spPr>
          <a:xfrm>
            <a:off x="4499992" y="3717032"/>
            <a:ext cx="4320480" cy="1231106"/>
          </a:xfrm>
          <a:prstGeom prst="rect">
            <a:avLst/>
          </a:prstGeom>
          <a:noFill/>
        </p:spPr>
        <p:txBody>
          <a:bodyPr wrap="square" rtlCol="0">
            <a:spAutoFit/>
          </a:bodyPr>
          <a:lstStyle/>
          <a:p>
            <a:pPr algn="ctr"/>
            <a:r>
              <a:rPr lang="en-US" sz="2000" b="1" dirty="0" smtClean="0">
                <a:solidFill>
                  <a:schemeClr val="accent4">
                    <a:lumMod val="75000"/>
                  </a:schemeClr>
                </a:solidFill>
              </a:rPr>
              <a:t>USER REQUIREMENTS</a:t>
            </a:r>
          </a:p>
          <a:p>
            <a:pPr algn="ctr"/>
            <a:r>
              <a:rPr lang="en-US" dirty="0" smtClean="0"/>
              <a:t>Must be easy for students to operate</a:t>
            </a:r>
          </a:p>
          <a:p>
            <a:pPr algn="ctr"/>
            <a:r>
              <a:rPr lang="en-US" dirty="0" smtClean="0"/>
              <a:t>Should work offline</a:t>
            </a:r>
          </a:p>
          <a:p>
            <a:pPr algn="ctr"/>
            <a:r>
              <a:rPr lang="en-US" dirty="0" smtClean="0"/>
              <a:t>Should clearly notify upcoming deadlines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pc\Downloads\WhatsApp Image 2025-11-23 at 1.59.08 PM (1).jpeg"/>
          <p:cNvPicPr>
            <a:picLocks noChangeAspect="1" noChangeArrowheads="1"/>
          </p:cNvPicPr>
          <p:nvPr/>
        </p:nvPicPr>
        <p:blipFill>
          <a:blip r:embed="rId2" cstate="print"/>
          <a:srcRect/>
          <a:stretch>
            <a:fillRect/>
          </a:stretch>
        </p:blipFill>
        <p:spPr bwMode="auto">
          <a:xfrm>
            <a:off x="0" y="0"/>
            <a:ext cx="12153418" cy="6858000"/>
          </a:xfrm>
          <a:prstGeom prst="rect">
            <a:avLst/>
          </a:prstGeom>
          <a:noFill/>
        </p:spPr>
      </p:pic>
      <p:sp>
        <p:nvSpPr>
          <p:cNvPr id="3" name="TextBox 2"/>
          <p:cNvSpPr txBox="1"/>
          <p:nvPr/>
        </p:nvSpPr>
        <p:spPr>
          <a:xfrm>
            <a:off x="611560" y="980728"/>
            <a:ext cx="6696744" cy="1200329"/>
          </a:xfrm>
          <a:prstGeom prst="rect">
            <a:avLst/>
          </a:prstGeom>
          <a:noFill/>
        </p:spPr>
        <p:txBody>
          <a:bodyPr wrap="square" rtlCol="0">
            <a:spAutoFit/>
          </a:bodyPr>
          <a:lstStyle/>
          <a:p>
            <a:pPr algn="ctr"/>
            <a:r>
              <a:rPr lang="en-US" sz="3600" dirty="0" smtClean="0">
                <a:solidFill>
                  <a:schemeClr val="accent4">
                    <a:lumMod val="75000"/>
                  </a:schemeClr>
                </a:solidFill>
                <a:latin typeface="Berlin Sans FB Demi" pitchFamily="34" charset="0"/>
              </a:rPr>
              <a:t>TOP-DOWN DESIGN / MODULARIZATION</a:t>
            </a:r>
            <a:endParaRPr lang="en-US" sz="3600" dirty="0">
              <a:solidFill>
                <a:schemeClr val="accent4">
                  <a:lumMod val="75000"/>
                </a:schemeClr>
              </a:solidFill>
              <a:latin typeface="Berlin Sans FB Demi" pitchFamily="34" charset="0"/>
            </a:endParaRPr>
          </a:p>
        </p:txBody>
      </p:sp>
      <p:sp>
        <p:nvSpPr>
          <p:cNvPr id="4" name="TextBox 3"/>
          <p:cNvSpPr txBox="1"/>
          <p:nvPr/>
        </p:nvSpPr>
        <p:spPr>
          <a:xfrm>
            <a:off x="2555776" y="2564904"/>
            <a:ext cx="2664296" cy="1508105"/>
          </a:xfrm>
          <a:prstGeom prst="rect">
            <a:avLst/>
          </a:prstGeom>
          <a:noFill/>
        </p:spPr>
        <p:txBody>
          <a:bodyPr wrap="square" rtlCol="0">
            <a:spAutoFit/>
          </a:bodyPr>
          <a:lstStyle/>
          <a:p>
            <a:pPr algn="ctr"/>
            <a:r>
              <a:rPr lang="en-US" sz="2000" b="1" dirty="0" smtClean="0">
                <a:solidFill>
                  <a:schemeClr val="accent4">
                    <a:lumMod val="75000"/>
                  </a:schemeClr>
                </a:solidFill>
              </a:rPr>
              <a:t>MAIN SYSTEM</a:t>
            </a:r>
          </a:p>
          <a:p>
            <a:pPr marL="342900" indent="-342900" algn="ctr">
              <a:buFont typeface="+mj-lt"/>
              <a:buAutoNum type="arabicPeriod"/>
            </a:pPr>
            <a:r>
              <a:rPr lang="en-US" dirty="0" smtClean="0"/>
              <a:t>Assignment Manager</a:t>
            </a:r>
          </a:p>
          <a:p>
            <a:pPr marL="342900" indent="-342900" algn="ctr">
              <a:buFont typeface="+mj-lt"/>
              <a:buAutoNum type="arabicPeriod"/>
            </a:pPr>
            <a:r>
              <a:rPr lang="en-US" dirty="0" smtClean="0"/>
              <a:t>File Handler</a:t>
            </a:r>
          </a:p>
          <a:p>
            <a:pPr marL="342900" indent="-342900" algn="ctr">
              <a:buFont typeface="+mj-lt"/>
              <a:buAutoNum type="arabicPeriod"/>
            </a:pPr>
            <a:r>
              <a:rPr lang="en-US" dirty="0" smtClean="0"/>
              <a:t>Reminder Module</a:t>
            </a:r>
          </a:p>
          <a:p>
            <a:pPr marL="342900" indent="-342900" algn="ctr">
              <a:buFont typeface="+mj-lt"/>
              <a:buAutoNum type="arabicPeriod"/>
            </a:pPr>
            <a:r>
              <a:rPr lang="en-US" dirty="0" smtClean="0"/>
              <a:t>User Interface (CLI)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pc\Downloads\WhatsApp Image 2025-11-23 at 1.59.08 PM (1).jpeg"/>
          <p:cNvPicPr>
            <a:picLocks noChangeAspect="1" noChangeArrowheads="1"/>
          </p:cNvPicPr>
          <p:nvPr/>
        </p:nvPicPr>
        <p:blipFill>
          <a:blip r:embed="rId2" cstate="print"/>
          <a:srcRect/>
          <a:stretch>
            <a:fillRect/>
          </a:stretch>
        </p:blipFill>
        <p:spPr bwMode="auto">
          <a:xfrm>
            <a:off x="0" y="0"/>
            <a:ext cx="12153418" cy="6858000"/>
          </a:xfrm>
          <a:prstGeom prst="rect">
            <a:avLst/>
          </a:prstGeom>
          <a:noFill/>
        </p:spPr>
      </p:pic>
      <p:sp>
        <p:nvSpPr>
          <p:cNvPr id="3" name="TextBox 2"/>
          <p:cNvSpPr txBox="1"/>
          <p:nvPr/>
        </p:nvSpPr>
        <p:spPr>
          <a:xfrm>
            <a:off x="539552" y="764704"/>
            <a:ext cx="6768752" cy="646331"/>
          </a:xfrm>
          <a:prstGeom prst="rect">
            <a:avLst/>
          </a:prstGeom>
          <a:noFill/>
        </p:spPr>
        <p:txBody>
          <a:bodyPr wrap="square" rtlCol="0">
            <a:spAutoFit/>
          </a:bodyPr>
          <a:lstStyle/>
          <a:p>
            <a:r>
              <a:rPr lang="en-US" sz="3600" dirty="0" smtClean="0">
                <a:solidFill>
                  <a:schemeClr val="accent4">
                    <a:lumMod val="75000"/>
                  </a:schemeClr>
                </a:solidFill>
                <a:latin typeface="Berlin Sans FB Demi" pitchFamily="34" charset="0"/>
              </a:rPr>
              <a:t>MODULES AND SUBMODULES</a:t>
            </a:r>
            <a:endParaRPr lang="en-US" sz="3600" dirty="0">
              <a:solidFill>
                <a:schemeClr val="accent4">
                  <a:lumMod val="75000"/>
                </a:schemeClr>
              </a:solidFill>
              <a:latin typeface="Berlin Sans FB Demi" pitchFamily="34" charset="0"/>
            </a:endParaRPr>
          </a:p>
        </p:txBody>
      </p:sp>
      <p:sp>
        <p:nvSpPr>
          <p:cNvPr id="4" name="TextBox 3"/>
          <p:cNvSpPr txBox="1"/>
          <p:nvPr/>
        </p:nvSpPr>
        <p:spPr>
          <a:xfrm>
            <a:off x="755576" y="2060848"/>
            <a:ext cx="2880320" cy="1508105"/>
          </a:xfrm>
          <a:prstGeom prst="rect">
            <a:avLst/>
          </a:prstGeom>
          <a:noFill/>
        </p:spPr>
        <p:txBody>
          <a:bodyPr wrap="square" rtlCol="0">
            <a:spAutoFit/>
          </a:bodyPr>
          <a:lstStyle/>
          <a:p>
            <a:pPr marL="342900" indent="-342900"/>
            <a:r>
              <a:rPr lang="en-US" sz="2000" b="1" dirty="0" smtClean="0">
                <a:solidFill>
                  <a:schemeClr val="accent4">
                    <a:lumMod val="75000"/>
                  </a:schemeClr>
                </a:solidFill>
              </a:rPr>
              <a:t>ASSIGNMENT MANAGER</a:t>
            </a:r>
          </a:p>
          <a:p>
            <a:pPr marL="342900" indent="-342900">
              <a:buFont typeface="+mj-lt"/>
              <a:buAutoNum type="arabicPeriod"/>
            </a:pPr>
            <a:r>
              <a:rPr lang="en-US" dirty="0" err="1" smtClean="0"/>
              <a:t>add_assignment</a:t>
            </a:r>
            <a:r>
              <a:rPr lang="en-US" dirty="0" smtClean="0"/>
              <a:t>()</a:t>
            </a:r>
          </a:p>
          <a:p>
            <a:pPr marL="342900" indent="-342900">
              <a:buFont typeface="+mj-lt"/>
              <a:buAutoNum type="arabicPeriod"/>
            </a:pPr>
            <a:r>
              <a:rPr lang="en-US" dirty="0" err="1" smtClean="0"/>
              <a:t>delete_assignment</a:t>
            </a:r>
            <a:r>
              <a:rPr lang="en-US" dirty="0" smtClean="0"/>
              <a:t>()</a:t>
            </a:r>
          </a:p>
          <a:p>
            <a:pPr marL="342900" indent="-342900">
              <a:buFont typeface="+mj-lt"/>
              <a:buAutoNum type="arabicPeriod"/>
            </a:pPr>
            <a:r>
              <a:rPr lang="en-US" dirty="0" err="1" smtClean="0"/>
              <a:t>update_assignment</a:t>
            </a:r>
            <a:r>
              <a:rPr lang="en-US" dirty="0" smtClean="0"/>
              <a:t>()</a:t>
            </a:r>
          </a:p>
          <a:p>
            <a:pPr marL="342900" indent="-342900">
              <a:buFont typeface="+mj-lt"/>
              <a:buAutoNum type="arabicPeriod"/>
            </a:pPr>
            <a:r>
              <a:rPr lang="en-US" dirty="0" err="1" smtClean="0"/>
              <a:t>show_assignments</a:t>
            </a:r>
            <a:r>
              <a:rPr lang="en-US" dirty="0" smtClean="0"/>
              <a:t>()</a:t>
            </a:r>
            <a:endParaRPr lang="en-US" dirty="0"/>
          </a:p>
        </p:txBody>
      </p:sp>
      <p:sp>
        <p:nvSpPr>
          <p:cNvPr id="5" name="TextBox 4"/>
          <p:cNvSpPr txBox="1"/>
          <p:nvPr/>
        </p:nvSpPr>
        <p:spPr>
          <a:xfrm>
            <a:off x="3851920" y="2060848"/>
            <a:ext cx="2952328" cy="1231106"/>
          </a:xfrm>
          <a:prstGeom prst="rect">
            <a:avLst/>
          </a:prstGeom>
          <a:noFill/>
        </p:spPr>
        <p:txBody>
          <a:bodyPr wrap="square" rtlCol="0">
            <a:spAutoFit/>
          </a:bodyPr>
          <a:lstStyle/>
          <a:p>
            <a:r>
              <a:rPr lang="en-US" sz="2000" b="1" dirty="0" smtClean="0">
                <a:solidFill>
                  <a:schemeClr val="accent4">
                    <a:lumMod val="75000"/>
                  </a:schemeClr>
                </a:solidFill>
              </a:rPr>
              <a:t>2. REMINDER MODULE</a:t>
            </a:r>
          </a:p>
          <a:p>
            <a:pPr marL="342900" indent="-342900">
              <a:buFont typeface="+mj-lt"/>
              <a:buAutoNum type="arabicPeriod"/>
            </a:pPr>
            <a:r>
              <a:rPr lang="en-US" dirty="0" err="1" smtClean="0"/>
              <a:t>check_upcoming</a:t>
            </a:r>
            <a:r>
              <a:rPr lang="en-US" dirty="0" smtClean="0"/>
              <a:t>()</a:t>
            </a:r>
          </a:p>
          <a:p>
            <a:pPr marL="342900" indent="-342900">
              <a:buFont typeface="+mj-lt"/>
              <a:buAutoNum type="arabicPeriod"/>
            </a:pPr>
            <a:r>
              <a:rPr lang="en-US" dirty="0" err="1" smtClean="0"/>
              <a:t>check_overdue</a:t>
            </a:r>
            <a:r>
              <a:rPr lang="en-US" dirty="0" smtClean="0"/>
              <a:t>()</a:t>
            </a:r>
          </a:p>
          <a:p>
            <a:pPr marL="342900" indent="-342900">
              <a:buFont typeface="+mj-lt"/>
              <a:buAutoNum type="arabicPeriod"/>
            </a:pPr>
            <a:r>
              <a:rPr lang="en-US" dirty="0" err="1" smtClean="0"/>
              <a:t>time_difference</a:t>
            </a:r>
            <a:r>
              <a:rPr lang="en-US" dirty="0" smtClean="0"/>
              <a:t>()</a:t>
            </a:r>
            <a:endParaRPr lang="en-US" dirty="0"/>
          </a:p>
        </p:txBody>
      </p:sp>
      <p:sp>
        <p:nvSpPr>
          <p:cNvPr id="6" name="TextBox 5"/>
          <p:cNvSpPr txBox="1"/>
          <p:nvPr/>
        </p:nvSpPr>
        <p:spPr>
          <a:xfrm>
            <a:off x="1115616" y="3789040"/>
            <a:ext cx="2340768" cy="954107"/>
          </a:xfrm>
          <a:prstGeom prst="rect">
            <a:avLst/>
          </a:prstGeom>
          <a:noFill/>
        </p:spPr>
        <p:txBody>
          <a:bodyPr wrap="square" rtlCol="0">
            <a:spAutoFit/>
          </a:bodyPr>
          <a:lstStyle/>
          <a:p>
            <a:r>
              <a:rPr lang="en-US" sz="2000" b="1" dirty="0" smtClean="0">
                <a:solidFill>
                  <a:schemeClr val="accent4">
                    <a:lumMod val="75000"/>
                  </a:schemeClr>
                </a:solidFill>
              </a:rPr>
              <a:t>3. FILE HANDLER</a:t>
            </a:r>
          </a:p>
          <a:p>
            <a:pPr marL="342900" indent="-342900">
              <a:buFont typeface="+mj-lt"/>
              <a:buAutoNum type="arabicPeriod"/>
            </a:pPr>
            <a:r>
              <a:rPr lang="en-US" dirty="0" err="1" smtClean="0"/>
              <a:t>save_to_file</a:t>
            </a:r>
            <a:r>
              <a:rPr lang="en-US" dirty="0" smtClean="0"/>
              <a:t>()</a:t>
            </a:r>
          </a:p>
          <a:p>
            <a:pPr marL="342900" indent="-342900">
              <a:buFont typeface="+mj-lt"/>
              <a:buAutoNum type="arabicPeriod"/>
            </a:pPr>
            <a:r>
              <a:rPr lang="en-US" dirty="0" err="1" smtClean="0"/>
              <a:t>load_from_file</a:t>
            </a:r>
            <a:r>
              <a:rPr lang="en-US" dirty="0" smtClean="0"/>
              <a:t>()</a:t>
            </a:r>
            <a:endParaRPr lang="en-US" dirty="0"/>
          </a:p>
        </p:txBody>
      </p:sp>
      <p:sp>
        <p:nvSpPr>
          <p:cNvPr id="7" name="TextBox 6"/>
          <p:cNvSpPr txBox="1"/>
          <p:nvPr/>
        </p:nvSpPr>
        <p:spPr>
          <a:xfrm>
            <a:off x="3923928" y="3789040"/>
            <a:ext cx="2880320" cy="954107"/>
          </a:xfrm>
          <a:prstGeom prst="rect">
            <a:avLst/>
          </a:prstGeom>
          <a:noFill/>
        </p:spPr>
        <p:txBody>
          <a:bodyPr wrap="square" rtlCol="0">
            <a:spAutoFit/>
          </a:bodyPr>
          <a:lstStyle/>
          <a:p>
            <a:pPr marL="342900" indent="-342900"/>
            <a:r>
              <a:rPr lang="nb-NO" sz="2000" b="1" dirty="0" smtClean="0">
                <a:solidFill>
                  <a:schemeClr val="accent4">
                    <a:lumMod val="75000"/>
                  </a:schemeClr>
                </a:solidFill>
              </a:rPr>
              <a:t>4. USER INTERFACE</a:t>
            </a:r>
          </a:p>
          <a:p>
            <a:pPr marL="342900" indent="-342900">
              <a:buFont typeface="+mj-lt"/>
              <a:buAutoNum type="arabicPeriod"/>
            </a:pPr>
            <a:r>
              <a:rPr lang="nb-NO" dirty="0" smtClean="0"/>
              <a:t>main menu</a:t>
            </a:r>
          </a:p>
          <a:p>
            <a:pPr marL="342900" indent="-342900">
              <a:buFont typeface="+mj-lt"/>
              <a:buAutoNum type="arabicPeriod"/>
            </a:pPr>
            <a:r>
              <a:rPr lang="nb-NO" dirty="0" smtClean="0"/>
              <a:t>user input handler</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pc\Downloads\WhatsApp Image 2025-11-23 at 1.59.08 PM (1).jpeg"/>
          <p:cNvPicPr>
            <a:picLocks noChangeAspect="1" noChangeArrowheads="1"/>
          </p:cNvPicPr>
          <p:nvPr/>
        </p:nvPicPr>
        <p:blipFill>
          <a:blip r:embed="rId2" cstate="print"/>
          <a:srcRect/>
          <a:stretch>
            <a:fillRect/>
          </a:stretch>
        </p:blipFill>
        <p:spPr bwMode="auto">
          <a:xfrm>
            <a:off x="0" y="0"/>
            <a:ext cx="12182935" cy="6874656"/>
          </a:xfrm>
          <a:prstGeom prst="rect">
            <a:avLst/>
          </a:prstGeom>
          <a:noFill/>
        </p:spPr>
      </p:pic>
      <p:sp>
        <p:nvSpPr>
          <p:cNvPr id="3" name="TextBox 2"/>
          <p:cNvSpPr txBox="1"/>
          <p:nvPr/>
        </p:nvSpPr>
        <p:spPr>
          <a:xfrm>
            <a:off x="539552" y="188640"/>
            <a:ext cx="6552728" cy="646331"/>
          </a:xfrm>
          <a:prstGeom prst="rect">
            <a:avLst/>
          </a:prstGeom>
          <a:noFill/>
        </p:spPr>
        <p:txBody>
          <a:bodyPr wrap="square" rtlCol="0">
            <a:spAutoFit/>
          </a:bodyPr>
          <a:lstStyle/>
          <a:p>
            <a:r>
              <a:rPr lang="en-US" sz="3600" dirty="0" smtClean="0">
                <a:solidFill>
                  <a:schemeClr val="accent4">
                    <a:lumMod val="75000"/>
                  </a:schemeClr>
                </a:solidFill>
                <a:latin typeface="Berlin Sans FB Demi" pitchFamily="34" charset="0"/>
              </a:rPr>
              <a:t>ALGORITHM DEVELOPMENT</a:t>
            </a:r>
            <a:endParaRPr lang="en-US" sz="3600" dirty="0">
              <a:solidFill>
                <a:schemeClr val="accent4">
                  <a:lumMod val="75000"/>
                </a:schemeClr>
              </a:solidFill>
              <a:latin typeface="Berlin Sans FB Demi" pitchFamily="34" charset="0"/>
            </a:endParaRPr>
          </a:p>
        </p:txBody>
      </p:sp>
      <p:sp>
        <p:nvSpPr>
          <p:cNvPr id="4" name="TextBox 3"/>
          <p:cNvSpPr txBox="1"/>
          <p:nvPr/>
        </p:nvSpPr>
        <p:spPr>
          <a:xfrm>
            <a:off x="683568" y="836712"/>
            <a:ext cx="7128792" cy="5355312"/>
          </a:xfrm>
          <a:prstGeom prst="rect">
            <a:avLst/>
          </a:prstGeom>
          <a:noFill/>
        </p:spPr>
        <p:txBody>
          <a:bodyPr wrap="square" rtlCol="0">
            <a:spAutoFit/>
          </a:bodyPr>
          <a:lstStyle/>
          <a:p>
            <a:pPr marL="342900" indent="-342900"/>
            <a:r>
              <a:rPr lang="en-US" b="1" dirty="0" smtClean="0">
                <a:solidFill>
                  <a:schemeClr val="accent4">
                    <a:lumMod val="75000"/>
                  </a:schemeClr>
                </a:solidFill>
              </a:rPr>
              <a:t>ALGORITHM: ADD ASSIGNMENT</a:t>
            </a:r>
          </a:p>
          <a:p>
            <a:pPr marL="342900" indent="-342900"/>
            <a:r>
              <a:rPr lang="en-US" dirty="0" smtClean="0"/>
              <a:t>1.Ask user for subject.</a:t>
            </a:r>
          </a:p>
          <a:p>
            <a:pPr marL="342900" indent="-342900"/>
            <a:r>
              <a:rPr lang="en-US" dirty="0" smtClean="0"/>
              <a:t>2. Ask for description.</a:t>
            </a:r>
          </a:p>
          <a:p>
            <a:pPr marL="342900" indent="-342900"/>
            <a:r>
              <a:rPr lang="en-US" dirty="0" smtClean="0"/>
              <a:t>3. Ask for due date.</a:t>
            </a:r>
          </a:p>
          <a:p>
            <a:pPr marL="342900" indent="-342900"/>
            <a:r>
              <a:rPr lang="en-US" dirty="0" smtClean="0"/>
              <a:t>4. Convert date string to Python </a:t>
            </a:r>
            <a:r>
              <a:rPr lang="en-US" dirty="0" err="1" smtClean="0"/>
              <a:t>datetime</a:t>
            </a:r>
            <a:r>
              <a:rPr lang="en-US" dirty="0" smtClean="0"/>
              <a:t>.</a:t>
            </a:r>
          </a:p>
          <a:p>
            <a:pPr marL="342900" indent="-342900"/>
            <a:r>
              <a:rPr lang="en-US" dirty="0" smtClean="0"/>
              <a:t>5. Append assignment to list.</a:t>
            </a:r>
          </a:p>
          <a:p>
            <a:pPr marL="342900" indent="-342900"/>
            <a:r>
              <a:rPr lang="en-US" dirty="0" smtClean="0"/>
              <a:t>6. Save data to file.</a:t>
            </a:r>
          </a:p>
          <a:p>
            <a:pPr marL="342900" indent="-342900"/>
            <a:endParaRPr lang="en-US" dirty="0" smtClean="0"/>
          </a:p>
          <a:p>
            <a:pPr marL="342900" indent="-342900"/>
            <a:r>
              <a:rPr lang="en-US" b="1" dirty="0" smtClean="0">
                <a:solidFill>
                  <a:schemeClr val="accent4">
                    <a:lumMod val="75000"/>
                  </a:schemeClr>
                </a:solidFill>
              </a:rPr>
              <a:t>ALGORITHM: CHECK UPCOMING DEADLINES</a:t>
            </a:r>
          </a:p>
          <a:p>
            <a:pPr marL="342900" indent="-342900"/>
            <a:r>
              <a:rPr lang="en-US" dirty="0" smtClean="0"/>
              <a:t>1. Load assignment list.</a:t>
            </a:r>
          </a:p>
          <a:p>
            <a:pPr marL="342900" indent="-342900"/>
            <a:r>
              <a:rPr lang="en-US" dirty="0" smtClean="0"/>
              <a:t>2. Compare current date with each assignment’s due date.</a:t>
            </a:r>
          </a:p>
          <a:p>
            <a:pPr marL="342900" indent="-342900"/>
            <a:r>
              <a:rPr lang="en-US" dirty="0" smtClean="0"/>
              <a:t>3. If difference ≤ 3 days → mark as upcoming.</a:t>
            </a:r>
          </a:p>
          <a:p>
            <a:pPr marL="342900" indent="-342900"/>
            <a:r>
              <a:rPr lang="en-US" dirty="0" smtClean="0"/>
              <a:t>4. Display upcoming tasks.</a:t>
            </a:r>
          </a:p>
          <a:p>
            <a:pPr marL="342900" indent="-342900"/>
            <a:endParaRPr lang="en-US" dirty="0" smtClean="0"/>
          </a:p>
          <a:p>
            <a:pPr marL="342900" indent="-342900"/>
            <a:r>
              <a:rPr lang="en-US" b="1" dirty="0" smtClean="0">
                <a:solidFill>
                  <a:schemeClr val="accent4">
                    <a:lumMod val="75000"/>
                  </a:schemeClr>
                </a:solidFill>
              </a:rPr>
              <a:t>ALGORITHM: REMINDER SYSTEM</a:t>
            </a:r>
          </a:p>
          <a:p>
            <a:pPr marL="342900" indent="-342900"/>
            <a:r>
              <a:rPr lang="en-US" dirty="0" smtClean="0"/>
              <a:t>1. Load data.</a:t>
            </a:r>
          </a:p>
          <a:p>
            <a:pPr marL="342900" indent="-342900"/>
            <a:r>
              <a:rPr lang="en-US" dirty="0" smtClean="0"/>
              <a:t>2. For each </a:t>
            </a:r>
            <a:r>
              <a:rPr lang="en-US" dirty="0" err="1" smtClean="0"/>
              <a:t>assignment:If</a:t>
            </a:r>
            <a:r>
              <a:rPr lang="en-US" dirty="0" smtClean="0"/>
              <a:t> due date &lt; today → </a:t>
            </a:r>
            <a:r>
              <a:rPr lang="en-US" dirty="0" err="1" smtClean="0"/>
              <a:t>overdueElse</a:t>
            </a:r>
            <a:r>
              <a:rPr lang="en-US" dirty="0" smtClean="0"/>
              <a:t> if due date = today → due </a:t>
            </a:r>
            <a:r>
              <a:rPr lang="en-US" dirty="0" err="1" smtClean="0"/>
              <a:t>todayElse</a:t>
            </a:r>
            <a:r>
              <a:rPr lang="en-US" dirty="0" smtClean="0"/>
              <a:t> if due in 1–3 days → upcoming</a:t>
            </a:r>
          </a:p>
          <a:p>
            <a:pPr marL="342900" indent="-342900"/>
            <a:r>
              <a:rPr lang="en-US" dirty="0" smtClean="0"/>
              <a:t>3. Display categorized output.</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pc\Downloads\WhatsApp Image 2025-11-23 at 1.59.08 PM (1).jpeg"/>
          <p:cNvPicPr>
            <a:picLocks noChangeAspect="1" noChangeArrowheads="1"/>
          </p:cNvPicPr>
          <p:nvPr/>
        </p:nvPicPr>
        <p:blipFill>
          <a:blip r:embed="rId2" cstate="print"/>
          <a:srcRect/>
          <a:stretch>
            <a:fillRect/>
          </a:stretch>
        </p:blipFill>
        <p:spPr bwMode="auto">
          <a:xfrm>
            <a:off x="0" y="0"/>
            <a:ext cx="12182935" cy="6874656"/>
          </a:xfrm>
          <a:prstGeom prst="rect">
            <a:avLst/>
          </a:prstGeom>
          <a:noFill/>
        </p:spPr>
      </p:pic>
      <p:sp>
        <p:nvSpPr>
          <p:cNvPr id="3" name="TextBox 2"/>
          <p:cNvSpPr txBox="1"/>
          <p:nvPr/>
        </p:nvSpPr>
        <p:spPr>
          <a:xfrm>
            <a:off x="827584" y="764704"/>
            <a:ext cx="6264696" cy="646331"/>
          </a:xfrm>
          <a:prstGeom prst="rect">
            <a:avLst/>
          </a:prstGeom>
          <a:noFill/>
        </p:spPr>
        <p:txBody>
          <a:bodyPr wrap="square" rtlCol="0">
            <a:spAutoFit/>
          </a:bodyPr>
          <a:lstStyle/>
          <a:p>
            <a:r>
              <a:rPr lang="en-US" sz="3600" dirty="0" smtClean="0">
                <a:solidFill>
                  <a:schemeClr val="accent4">
                    <a:lumMod val="75000"/>
                  </a:schemeClr>
                </a:solidFill>
                <a:latin typeface="Berlin Sans FB Demi" pitchFamily="34" charset="0"/>
              </a:rPr>
              <a:t>IMPLEMENTATION</a:t>
            </a:r>
            <a:endParaRPr lang="en-US" sz="3600" dirty="0">
              <a:solidFill>
                <a:schemeClr val="accent4">
                  <a:lumMod val="75000"/>
                </a:schemeClr>
              </a:solidFill>
              <a:latin typeface="Berlin Sans FB Demi" pitchFamily="34" charset="0"/>
            </a:endParaRPr>
          </a:p>
        </p:txBody>
      </p:sp>
      <p:sp>
        <p:nvSpPr>
          <p:cNvPr id="4" name="TextBox 3"/>
          <p:cNvSpPr txBox="1"/>
          <p:nvPr/>
        </p:nvSpPr>
        <p:spPr>
          <a:xfrm>
            <a:off x="971600" y="2492896"/>
            <a:ext cx="6048672" cy="1569660"/>
          </a:xfrm>
          <a:prstGeom prst="rect">
            <a:avLst/>
          </a:prstGeom>
          <a:noFill/>
        </p:spPr>
        <p:txBody>
          <a:bodyPr wrap="square" rtlCol="0">
            <a:spAutoFit/>
          </a:bodyPr>
          <a:lstStyle/>
          <a:p>
            <a:r>
              <a:rPr lang="en-US" sz="2400" b="1" dirty="0" smtClean="0">
                <a:solidFill>
                  <a:schemeClr val="accent4"/>
                </a:solidFill>
              </a:rPr>
              <a:t>THIS STAGE INCLUDES</a:t>
            </a:r>
            <a:r>
              <a:rPr lang="en-US" dirty="0" smtClean="0"/>
              <a:t>:</a:t>
            </a:r>
          </a:p>
          <a:p>
            <a:pPr marL="342900" indent="-342900">
              <a:buFont typeface="+mj-lt"/>
              <a:buAutoNum type="arabicPeriod"/>
            </a:pPr>
            <a:r>
              <a:rPr lang="en-US" dirty="0" smtClean="0"/>
              <a:t>Writing Python functions for each module</a:t>
            </a:r>
          </a:p>
          <a:p>
            <a:pPr marL="342900" indent="-342900">
              <a:buFont typeface="+mj-lt"/>
              <a:buAutoNum type="arabicPeriod"/>
            </a:pPr>
            <a:r>
              <a:rPr lang="en-US" dirty="0" smtClean="0"/>
              <a:t>Setting up JSON/text storage</a:t>
            </a:r>
          </a:p>
          <a:p>
            <a:pPr marL="342900" indent="-342900">
              <a:buFont typeface="+mj-lt"/>
              <a:buAutoNum type="arabicPeriod"/>
            </a:pPr>
            <a:r>
              <a:rPr lang="en-US" dirty="0" smtClean="0"/>
              <a:t>Developing the reminder logic</a:t>
            </a:r>
          </a:p>
          <a:p>
            <a:pPr marL="342900" indent="-342900">
              <a:buFont typeface="+mj-lt"/>
              <a:buAutoNum type="arabicPeriod"/>
            </a:pPr>
            <a:r>
              <a:rPr lang="en-US" dirty="0" smtClean="0"/>
              <a:t>Integrating all components into a menu-driven program</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descr="C:\Users\pc\Downloads\WhatsApp Image 2025-11-23 at 1.59.08 PM (1).jpeg"/>
          <p:cNvPicPr>
            <a:picLocks noChangeAspect="1" noChangeArrowheads="1"/>
          </p:cNvPicPr>
          <p:nvPr/>
        </p:nvPicPr>
        <p:blipFill>
          <a:blip r:embed="rId2" cstate="print"/>
          <a:srcRect/>
          <a:stretch>
            <a:fillRect/>
          </a:stretch>
        </p:blipFill>
        <p:spPr bwMode="auto">
          <a:xfrm>
            <a:off x="0" y="0"/>
            <a:ext cx="12182935" cy="6874656"/>
          </a:xfrm>
          <a:prstGeom prst="rect">
            <a:avLst/>
          </a:prstGeom>
          <a:noFill/>
        </p:spPr>
      </p:pic>
      <p:sp>
        <p:nvSpPr>
          <p:cNvPr id="3" name="TextBox 2"/>
          <p:cNvSpPr txBox="1"/>
          <p:nvPr/>
        </p:nvSpPr>
        <p:spPr>
          <a:xfrm>
            <a:off x="827584" y="908720"/>
            <a:ext cx="6336704" cy="646331"/>
          </a:xfrm>
          <a:prstGeom prst="rect">
            <a:avLst/>
          </a:prstGeom>
          <a:noFill/>
        </p:spPr>
        <p:txBody>
          <a:bodyPr wrap="square" rtlCol="0">
            <a:spAutoFit/>
          </a:bodyPr>
          <a:lstStyle/>
          <a:p>
            <a:r>
              <a:rPr lang="en-US" sz="3600" dirty="0" smtClean="0">
                <a:solidFill>
                  <a:schemeClr val="accent4">
                    <a:lumMod val="75000"/>
                  </a:schemeClr>
                </a:solidFill>
                <a:latin typeface="Berlin Sans FB Demi" pitchFamily="34" charset="0"/>
              </a:rPr>
              <a:t>TESTING &amp; REFINEMENT</a:t>
            </a:r>
            <a:endParaRPr lang="en-US" sz="3600" dirty="0">
              <a:solidFill>
                <a:schemeClr val="accent4">
                  <a:lumMod val="75000"/>
                </a:schemeClr>
              </a:solidFill>
              <a:latin typeface="Berlin Sans FB Demi" pitchFamily="34" charset="0"/>
            </a:endParaRPr>
          </a:p>
        </p:txBody>
      </p:sp>
      <p:sp>
        <p:nvSpPr>
          <p:cNvPr id="4" name="TextBox 3"/>
          <p:cNvSpPr txBox="1"/>
          <p:nvPr/>
        </p:nvSpPr>
        <p:spPr>
          <a:xfrm>
            <a:off x="1115616" y="1916832"/>
            <a:ext cx="5112568" cy="2923877"/>
          </a:xfrm>
          <a:prstGeom prst="rect">
            <a:avLst/>
          </a:prstGeom>
          <a:noFill/>
        </p:spPr>
        <p:txBody>
          <a:bodyPr wrap="square" rtlCol="0">
            <a:spAutoFit/>
          </a:bodyPr>
          <a:lstStyle/>
          <a:p>
            <a:r>
              <a:rPr lang="en-US" sz="2000" b="1" dirty="0" smtClean="0">
                <a:solidFill>
                  <a:schemeClr val="accent4"/>
                </a:solidFill>
              </a:rPr>
              <a:t>TESTING CHECKLIST</a:t>
            </a:r>
          </a:p>
          <a:p>
            <a:pPr marL="342900" indent="-342900">
              <a:buFont typeface="+mj-lt"/>
              <a:buAutoNum type="arabicPeriod"/>
            </a:pPr>
            <a:r>
              <a:rPr lang="en-US" dirty="0" smtClean="0"/>
              <a:t>Add assignment → correct storage?</a:t>
            </a:r>
          </a:p>
          <a:p>
            <a:pPr marL="342900" indent="-342900">
              <a:buFont typeface="+mj-lt"/>
              <a:buAutoNum type="arabicPeriod"/>
            </a:pPr>
            <a:r>
              <a:rPr lang="en-US" dirty="0" smtClean="0"/>
              <a:t>Load data → consistent?</a:t>
            </a:r>
          </a:p>
          <a:p>
            <a:pPr marL="342900" indent="-342900">
              <a:buFont typeface="+mj-lt"/>
              <a:buAutoNum type="arabicPeriod"/>
            </a:pPr>
            <a:r>
              <a:rPr lang="en-US" dirty="0" smtClean="0"/>
              <a:t>Date comparison → works correctly?</a:t>
            </a:r>
          </a:p>
          <a:p>
            <a:pPr marL="342900" indent="-342900">
              <a:buFont typeface="+mj-lt"/>
              <a:buAutoNum type="arabicPeriod"/>
            </a:pPr>
            <a:r>
              <a:rPr lang="en-US" dirty="0" smtClean="0"/>
              <a:t>Upcoming </a:t>
            </a:r>
            <a:r>
              <a:rPr lang="en-US" dirty="0" err="1" smtClean="0"/>
              <a:t>vs</a:t>
            </a:r>
            <a:r>
              <a:rPr lang="en-US" dirty="0" smtClean="0"/>
              <a:t> overdue detection → accurate?</a:t>
            </a:r>
          </a:p>
          <a:p>
            <a:r>
              <a:rPr lang="en-US" sz="2000" b="1" dirty="0" smtClean="0">
                <a:solidFill>
                  <a:schemeClr val="accent4"/>
                </a:solidFill>
              </a:rPr>
              <a:t>EDGE CASE TESTING</a:t>
            </a:r>
            <a:r>
              <a:rPr lang="en-US" dirty="0" smtClean="0"/>
              <a:t>:</a:t>
            </a:r>
          </a:p>
          <a:p>
            <a:pPr marL="342900" indent="-342900">
              <a:buFont typeface="+mj-lt"/>
              <a:buAutoNum type="arabicPeriod"/>
            </a:pPr>
            <a:r>
              <a:rPr lang="en-US" dirty="0" smtClean="0"/>
              <a:t>Invalid date format</a:t>
            </a:r>
          </a:p>
          <a:p>
            <a:pPr marL="342900" indent="-342900">
              <a:buFont typeface="+mj-lt"/>
              <a:buAutoNum type="arabicPeriod"/>
            </a:pPr>
            <a:r>
              <a:rPr lang="en-US" dirty="0" smtClean="0"/>
              <a:t>No assignments</a:t>
            </a:r>
          </a:p>
          <a:p>
            <a:pPr marL="342900" indent="-342900">
              <a:buFont typeface="+mj-lt"/>
              <a:buAutoNum type="arabicPeriod"/>
            </a:pPr>
            <a:r>
              <a:rPr lang="en-US" dirty="0" smtClean="0"/>
              <a:t>Past due date entry</a:t>
            </a:r>
          </a:p>
          <a:p>
            <a:pPr marL="342900" indent="-342900">
              <a:buFont typeface="+mj-lt"/>
              <a:buAutoNum type="arabicPeriod"/>
            </a:pPr>
            <a:r>
              <a:rPr lang="en-US" dirty="0" smtClean="0"/>
              <a:t>Empty file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descr="C:\Users\pc\AppData\Local\Temp\{825921F0-3C34-4B17-85E9-45FD4B2509EC}.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484" name="AutoShape 4" descr="C:\Users\pc\AppData\Local\Temp\{825921F0-3C34-4B17-85E9-45FD4B2509EC}.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486" name="AutoShape 6" descr="C:\Users\pc\AppData\Local\Temp\{C5489C53-3D66-4018-95D1-950388CAD62A}.tmp"/>
          <p:cNvSpPr>
            <a:spLocks noChangeAspect="1" noChangeArrowheads="1"/>
          </p:cNvSpPr>
          <p:nvPr/>
        </p:nvSpPr>
        <p:spPr bwMode="auto">
          <a:xfrm>
            <a:off x="63500" y="-136525"/>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488" name="Picture 8" descr="C:\Users\pc\Downloads\WhatsApp Image 2025-11-23 at 1.59.08 PM (2).jpeg"/>
          <p:cNvPicPr>
            <a:picLocks noChangeAspect="1" noChangeArrowheads="1"/>
          </p:cNvPicPr>
          <p:nvPr/>
        </p:nvPicPr>
        <p:blipFill>
          <a:blip r:embed="rId2" cstate="print"/>
          <a:srcRect/>
          <a:stretch>
            <a:fillRect/>
          </a:stretch>
        </p:blipFill>
        <p:spPr bwMode="auto">
          <a:xfrm>
            <a:off x="-1548680" y="0"/>
            <a:ext cx="12192000" cy="6858000"/>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TotalTime>
  <Words>643</Words>
  <Application>Microsoft Office PowerPoint</Application>
  <PresentationFormat>On-screen Show (4:3)</PresentationFormat>
  <Paragraphs>124</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pc</dc:creator>
  <cp:lastModifiedBy>pc</cp:lastModifiedBy>
  <cp:revision>7</cp:revision>
  <dcterms:created xsi:type="dcterms:W3CDTF">2025-11-23T08:29:27Z</dcterms:created>
  <dcterms:modified xsi:type="dcterms:W3CDTF">2025-11-23T09:31:40Z</dcterms:modified>
</cp:coreProperties>
</file>